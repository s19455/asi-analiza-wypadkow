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64592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Analiza wypadków drogowych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AAAAAA"/>
                </a:solidFill>
              </a:defRPr>
            </a:pPr>
            <a:r>
              <a:t>Predykcja stopnia obrażeń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</a:defRPr>
            </a:pPr>
            <a:r>
              <a:t>Artur Cichocki  •  Bartosz Pikutin  •  Wiktor Golba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84632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7F8C8D"/>
                </a:solidFill>
              </a:defRPr>
            </a:pPr>
            <a:r>
              <a:t>Projekt zaliczeniowy ASI — PJATK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</a:defRPr>
            </a:pPr>
            <a:r>
              <a:t>Dane: Montgomery County, Maryland (2015–2024)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C3E50"/>
                </a:solidFill>
              </a:defRPr>
            </a:pPr>
            <a: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2C3E50"/>
                </a:solidFill>
              </a:defRPr>
            </a:pPr>
            <a:r>
              <a:t>Cel: na podstawie warunków wypadku przewidzieć stopień obrażeń.</a:t>
            </a:r>
          </a:p>
          <a:p>
            <a:pPr>
              <a:spcBef>
                <a:spcPts val="600"/>
              </a:spcBef>
              <a:defRPr sz="1000" b="0"/>
            </a:pPr>
          </a:p>
          <a:p>
            <a:pPr>
              <a:spcBef>
                <a:spcPts val="600"/>
              </a:spcBef>
              <a:defRPr sz="2000" b="1">
                <a:solidFill>
                  <a:srgbClr val="2C3E50"/>
                </a:solidFill>
              </a:defRPr>
            </a:pPr>
            <a:r>
              <a:t>Dlaczego to ważne:</a:t>
            </a:r>
          </a:p>
          <a:p>
            <a:pPr>
              <a:spcBef>
                <a:spcPts val="600"/>
              </a:spcBef>
              <a:defRPr sz="1800" b="0">
                <a:solidFill>
                  <a:srgbClr val="2C3E50"/>
                </a:solidFill>
              </a:defRPr>
            </a:pPr>
            <a:r>
              <a:t>•  Planowanie bezpieczeństwa ruchu</a:t>
            </a:r>
          </a:p>
          <a:p>
            <a:pPr>
              <a:spcBef>
                <a:spcPts val="600"/>
              </a:spcBef>
              <a:defRPr sz="1800" b="0">
                <a:solidFill>
                  <a:srgbClr val="2C3E50"/>
                </a:solidFill>
              </a:defRPr>
            </a:pPr>
            <a:r>
              <a:t>•  Lepsze dysponowanie służb ratunkowych</a:t>
            </a:r>
          </a:p>
          <a:p>
            <a:pPr>
              <a:spcBef>
                <a:spcPts val="600"/>
              </a:spcBef>
              <a:defRPr sz="1800" b="0">
                <a:solidFill>
                  <a:srgbClr val="2C3E50"/>
                </a:solidFill>
              </a:defRPr>
            </a:pPr>
            <a:r>
              <a:t>•  Zrozumienie czynników ryzyka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1887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</a:defRPr>
            </a:pPr>
            <a:r>
              <a:t>3 klasy:</a:t>
            </a:r>
          </a:p>
          <a:p>
            <a:pPr>
              <a:spcBef>
                <a:spcPts val="600"/>
              </a:spcBef>
              <a:defRPr sz="1000" b="0"/>
            </a:pPr>
          </a:p>
          <a:p>
            <a:pPr>
              <a:spcBef>
                <a:spcPts val="600"/>
              </a:spcBef>
              <a:defRPr sz="2000" b="1">
                <a:solidFill>
                  <a:srgbClr val="27AE60"/>
                </a:solidFill>
              </a:defRPr>
            </a:pPr>
            <a:r>
              <a:t>NO_INJURY — brak obrażeń (82%)</a:t>
            </a:r>
          </a:p>
          <a:p>
            <a:pPr>
              <a:spcBef>
                <a:spcPts val="600"/>
              </a:spcBef>
              <a:defRPr sz="2000" b="1">
                <a:solidFill>
                  <a:srgbClr val="E6A000"/>
                </a:solidFill>
              </a:defRPr>
            </a:pPr>
            <a:r>
              <a:t>MINOR — drobne obrażenia (17%)</a:t>
            </a:r>
          </a:p>
          <a:p>
            <a:pPr>
              <a:spcBef>
                <a:spcPts val="600"/>
              </a:spcBef>
              <a:defRPr sz="2000" b="1">
                <a:solidFill>
                  <a:srgbClr val="E74C3C"/>
                </a:solidFill>
              </a:defRPr>
            </a:pPr>
            <a:r>
              <a:t>SERIOUS — poważne / zgon (1%)</a:t>
            </a:r>
          </a:p>
          <a:p>
            <a:pPr>
              <a:spcBef>
                <a:spcPts val="600"/>
              </a:spcBef>
              <a:defRPr sz="1000" b="0"/>
            </a:pPr>
          </a:p>
          <a:p>
            <a:pPr>
              <a:spcBef>
                <a:spcPts val="600"/>
              </a:spcBef>
              <a:defRPr sz="1600" b="0">
                <a:solidFill>
                  <a:srgbClr val="7F8C8D"/>
                </a:solidFill>
              </a:defRPr>
            </a:pPr>
            <a:r>
              <a:t>Problem: silna nierównowaga klas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C3E50"/>
                </a:solidFill>
              </a:defRPr>
            </a:pPr>
            <a:r>
              <a:t>Zbiór danych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3498DB"/>
                </a:solidFill>
              </a:defRPr>
            </a:pPr>
            <a:r>
              <a:t>172 105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1031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7F8C8D"/>
                </a:solidFill>
              </a:defRPr>
            </a:pPr>
            <a:r>
              <a:t>rekordów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37160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3498DB"/>
                </a:solidFill>
              </a:defRPr>
            </a:pPr>
            <a: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1031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7F8C8D"/>
                </a:solidFill>
              </a:defRPr>
            </a:pPr>
            <a:r>
              <a:t>kolumny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37160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3498DB"/>
                </a:solidFill>
              </a:defRPr>
            </a:pPr>
            <a:r>
              <a:t>10 lat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1031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7F8C8D"/>
                </a:solidFill>
              </a:defRPr>
            </a:pPr>
            <a:r>
              <a:t>danych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</a:defRPr>
            </a:pPr>
            <a:r>
              <a:t>Ważniejsze cechy:</a:t>
            </a:r>
          </a:p>
          <a:p>
            <a:pPr>
              <a:spcBef>
                <a:spcPts val="600"/>
              </a:spcBef>
              <a:defRPr sz="1700" b="0">
                <a:solidFill>
                  <a:srgbClr val="2C3E50"/>
                </a:solidFill>
              </a:defRPr>
            </a:pPr>
            <a:r>
              <a:t>•  Pogoda, oświetlenie, stan nawierzchni</a:t>
            </a:r>
          </a:p>
          <a:p>
            <a:pPr>
              <a:spcBef>
                <a:spcPts val="600"/>
              </a:spcBef>
              <a:defRPr sz="1700" b="0">
                <a:solidFill>
                  <a:srgbClr val="2C3E50"/>
                </a:solidFill>
              </a:defRPr>
            </a:pPr>
            <a:r>
              <a:t>•  Typ kolizji, ruch pojazdu</a:t>
            </a:r>
          </a:p>
          <a:p>
            <a:pPr>
              <a:spcBef>
                <a:spcPts val="600"/>
              </a:spcBef>
              <a:defRPr sz="1700" b="0">
                <a:solidFill>
                  <a:srgbClr val="2C3E50"/>
                </a:solidFill>
              </a:defRPr>
            </a:pPr>
            <a:r>
              <a:t>•  Limit prędkości, typ pojazdu</a:t>
            </a:r>
          </a:p>
          <a:p>
            <a:pPr>
              <a:spcBef>
                <a:spcPts val="600"/>
              </a:spcBef>
              <a:defRPr sz="1700" b="0">
                <a:solidFill>
                  <a:srgbClr val="2C3E50"/>
                </a:solidFill>
              </a:defRPr>
            </a:pPr>
            <a:r>
              <a:t>•  Data, godzina, lokalizacja GPS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301752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</a:defRPr>
            </a:pPr>
            <a:r>
              <a:t>Przetwarzanie:</a:t>
            </a:r>
          </a:p>
          <a:p>
            <a:pPr>
              <a:spcBef>
                <a:spcPts val="600"/>
              </a:spcBef>
              <a:defRPr sz="1700" b="0">
                <a:solidFill>
                  <a:srgbClr val="2C3E50"/>
                </a:solidFill>
              </a:defRPr>
            </a:pPr>
            <a:r>
              <a:t>•  Usunięcie kolumn z &gt;90% braków</a:t>
            </a:r>
          </a:p>
          <a:p>
            <a:pPr>
              <a:spcBef>
                <a:spcPts val="600"/>
              </a:spcBef>
              <a:defRPr sz="1700" b="0">
                <a:solidFill>
                  <a:srgbClr val="2C3E50"/>
                </a:solidFill>
              </a:defRPr>
            </a:pPr>
            <a:r>
              <a:t>•  Imputacja medianą / modą</a:t>
            </a:r>
          </a:p>
          <a:p>
            <a:pPr>
              <a:spcBef>
                <a:spcPts val="600"/>
              </a:spcBef>
              <a:defRPr sz="1700" b="0">
                <a:solidFill>
                  <a:srgbClr val="2C3E50"/>
                </a:solidFill>
              </a:defRPr>
            </a:pPr>
            <a:r>
              <a:t>•  Nowe cechy: is_night, vehicle_age...</a:t>
            </a:r>
          </a:p>
          <a:p>
            <a:pPr>
              <a:spcBef>
                <a:spcPts val="600"/>
              </a:spcBef>
              <a:defRPr sz="1700" b="0">
                <a:solidFill>
                  <a:srgbClr val="2C3E50"/>
                </a:solidFill>
              </a:defRPr>
            </a:pPr>
            <a:r>
              <a:t>•  Label encoding (wysoka kardynalność)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C3E50"/>
                </a:solidFill>
              </a:defRPr>
            </a:pPr>
            <a:r>
              <a:t>EDA — co zauważyliśmy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</a:defRPr>
            </a:pPr>
            <a:r>
              <a:t>Główne obserwacje:</a:t>
            </a:r>
          </a:p>
          <a:p>
            <a:pPr>
              <a:spcBef>
                <a:spcPts val="600"/>
              </a:spcBef>
              <a:defRPr sz="1800" b="0">
                <a:solidFill>
                  <a:srgbClr val="2C3E50"/>
                </a:solidFill>
              </a:defRPr>
            </a:pPr>
            <a:r>
              <a:t>•  Wypadki SERIOUS częstsze w nocy i przy złej pogodzie</a:t>
            </a:r>
          </a:p>
          <a:p>
            <a:pPr>
              <a:spcBef>
                <a:spcPts val="600"/>
              </a:spcBef>
              <a:defRPr sz="1800" b="0">
                <a:solidFill>
                  <a:srgbClr val="2C3E50"/>
                </a:solidFill>
              </a:defRPr>
            </a:pPr>
            <a:r>
              <a:t>•  Wyższy limit prędkości → więcej poważnych obrażeń</a:t>
            </a:r>
          </a:p>
          <a:p>
            <a:pPr>
              <a:spcBef>
                <a:spcPts val="600"/>
              </a:spcBef>
              <a:defRPr sz="1800" b="0">
                <a:solidFill>
                  <a:srgbClr val="2C3E50"/>
                </a:solidFill>
              </a:defRPr>
            </a:pPr>
            <a:r>
              <a:t>•  Kolizje czołowe — najwyższy % SERIOUS</a:t>
            </a:r>
          </a:p>
          <a:p>
            <a:pPr>
              <a:spcBef>
                <a:spcPts val="600"/>
              </a:spcBef>
              <a:defRPr sz="1800" b="0">
                <a:solidFill>
                  <a:srgbClr val="2C3E50"/>
                </a:solidFill>
              </a:defRPr>
            </a:pPr>
            <a:r>
              <a:t>•  Szczyty wypadków: 7-9 i 16-18</a:t>
            </a:r>
          </a:p>
          <a:p>
            <a:pPr>
              <a:spcBef>
                <a:spcPts val="600"/>
              </a:spcBef>
              <a:defRPr sz="1800" b="0">
                <a:solidFill>
                  <a:srgbClr val="2C3E50"/>
                </a:solidFill>
              </a:defRPr>
            </a:pPr>
            <a:r>
              <a:t>•  Piątki — najwięcej wypadków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18872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</a:defRPr>
            </a:pPr>
            <a:r>
              <a:t>Top cechy (wg Random Forest):</a:t>
            </a:r>
          </a:p>
          <a:p>
            <a:pPr>
              <a:spcBef>
                <a:spcPts val="600"/>
              </a:spcBef>
              <a:defRPr sz="1800" b="0">
                <a:solidFill>
                  <a:srgbClr val="2C3E50"/>
                </a:solidFill>
              </a:defRPr>
            </a:pPr>
            <a:r>
              <a:t>1.  Vehicle Damage Extent</a:t>
            </a:r>
          </a:p>
          <a:p>
            <a:pPr>
              <a:spcBef>
                <a:spcPts val="600"/>
              </a:spcBef>
              <a:defRPr sz="1800" b="0">
                <a:solidFill>
                  <a:srgbClr val="2C3E50"/>
                </a:solidFill>
              </a:defRPr>
            </a:pPr>
            <a:r>
              <a:t>2.  Collision Type</a:t>
            </a:r>
          </a:p>
          <a:p>
            <a:pPr>
              <a:spcBef>
                <a:spcPts val="600"/>
              </a:spcBef>
              <a:defRPr sz="1800" b="0">
                <a:solidFill>
                  <a:srgbClr val="2C3E50"/>
                </a:solidFill>
              </a:defRPr>
            </a:pPr>
            <a:r>
              <a:t>3.  Speed Limit</a:t>
            </a:r>
          </a:p>
          <a:p>
            <a:pPr>
              <a:spcBef>
                <a:spcPts val="600"/>
              </a:spcBef>
              <a:defRPr sz="1800" b="0">
                <a:solidFill>
                  <a:srgbClr val="2C3E50"/>
                </a:solidFill>
              </a:defRPr>
            </a:pPr>
            <a:r>
              <a:t>4.  Vehicle Movement</a:t>
            </a:r>
          </a:p>
          <a:p>
            <a:pPr>
              <a:spcBef>
                <a:spcPts val="600"/>
              </a:spcBef>
              <a:defRPr sz="1800" b="0">
                <a:solidFill>
                  <a:srgbClr val="2C3E50"/>
                </a:solidFill>
              </a:defRPr>
            </a:pPr>
            <a:r>
              <a:t>5.  Crash hour</a:t>
            </a:r>
          </a:p>
          <a:p>
            <a:pPr>
              <a:spcBef>
                <a:spcPts val="600"/>
              </a:spcBef>
              <a:defRPr sz="1000" b="0"/>
            </a:pPr>
          </a:p>
          <a:p>
            <a:pPr>
              <a:spcBef>
                <a:spcPts val="600"/>
              </a:spcBef>
              <a:defRPr sz="1400" b="0">
                <a:solidFill>
                  <a:srgbClr val="7F8C8D"/>
                </a:solidFill>
              </a:defRPr>
            </a:pPr>
            <a:r>
              <a:t>Szczegóły: notebooks/01_baseline_model.ipynb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C3E50"/>
                </a:solidFill>
              </a:defRPr>
            </a:pPr>
            <a:r>
              <a:t>Pipeline ML (Kedro)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2C3E50"/>
                </a:solidFill>
              </a:defRPr>
            </a:pPr>
            <a:r>
              <a:t>crash_data.csv</a:t>
            </a:r>
            <a:br/>
            <a:r>
              <a:t>      ↓</a:t>
            </a:r>
            <a:br/>
            <a:r>
              <a:t>[data_preparation] — 5 węzłów</a:t>
            </a:r>
            <a:br/>
            <a:r>
              <a:t>  usunięcie kolumn → imputacja → inżynieria cech</a:t>
            </a:r>
            <a:br/>
            <a:r>
              <a:t>  → mapowanie target → enkodowanie</a:t>
            </a:r>
            <a:br/>
            <a:r>
              <a:t>      ↓</a:t>
            </a:r>
            <a:br/>
            <a:r>
              <a:t>[data_modeling] — 3 węzły</a:t>
            </a:r>
            <a:br/>
            <a:r>
              <a:t>  podział train/test → trening → ewaluacja</a:t>
            </a:r>
            <a:br/>
            <a:r>
              <a:t>      ↓</a:t>
            </a:r>
            <a:br/>
            <a:r>
              <a:t>[tuning]</a:t>
            </a:r>
            <a:br/>
            <a:r>
              <a:t>  porównanie 4 modeli + Optuna (50 prób)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F8C8D"/>
                </a:solidFill>
              </a:defRPr>
            </a:pPr>
            <a:r>
              <a:t>Uruchomienie:  kedro run  |  kedro run --pipeline=tuning  |  kedro viz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C3E50"/>
                </a:solidFill>
              </a:defRPr>
            </a:pPr>
            <a:r>
              <a:t>Wyniki modeli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280160"/>
          <a:ext cx="10058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512064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Dokładność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F1 ważone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F1 makro</a:t>
                      </a:r>
                    </a:p>
                  </a:txBody>
                  <a:tcPr>
                    <a:solidFill>
                      <a:srgbClr val="3498D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Optuna LightGBM</a:t>
                      </a:r>
                    </a:p>
                  </a:txBody>
                  <a:tcPr>
                    <a:solidFill>
                      <a:srgbClr val="D4EFD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0.78</a:t>
                      </a:r>
                    </a:p>
                  </a:txBody>
                  <a:tcPr>
                    <a:solidFill>
                      <a:srgbClr val="D4EFD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0.78</a:t>
                      </a:r>
                    </a:p>
                  </a:txBody>
                  <a:tcPr>
                    <a:solidFill>
                      <a:srgbClr val="D4EFD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0.46</a:t>
                      </a:r>
                    </a:p>
                  </a:txBody>
                  <a:tcPr>
                    <a:solidFill>
                      <a:srgbClr val="D4EFD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0.77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0.40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Gradient Boosting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0.77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0.40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Random Forest (baseline)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0.33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114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C3E50"/>
                </a:solidFill>
              </a:defRPr>
            </a:pPr>
            <a:r>
              <a:t>F1 makro jest tu ważniejsze niż accuracy — mierzymy jak model radzi sobie z rzadkimi klasami.</a:t>
            </a:r>
          </a:p>
          <a:p>
            <a:pPr>
              <a:spcBef>
                <a:spcPts val="600"/>
              </a:spcBef>
              <a:defRPr sz="1800" b="1">
                <a:solidFill>
                  <a:srgbClr val="2C3E50"/>
                </a:solidFill>
              </a:defRPr>
            </a:pPr>
            <a:r>
              <a:t>Poprawa F1 makro: 0.33 → 0.46 (+39% vs baseline)</a:t>
            </a:r>
          </a:p>
          <a:p>
            <a:pPr>
              <a:spcBef>
                <a:spcPts val="600"/>
              </a:spcBef>
              <a:defRPr sz="1400" b="0">
                <a:solidFill>
                  <a:srgbClr val="7F8C8D"/>
                </a:solidFill>
              </a:defRPr>
            </a:pPr>
            <a:r>
              <a:t>Optuna: 50 prób optymalizacji bayesowskiej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C3E50"/>
                </a:solidFill>
              </a:defRPr>
            </a:pPr>
            <a:r>
              <a:t>Wdrożenie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C3E50"/>
                </a:solidFill>
              </a:defRPr>
            </a:pPr>
            <a:r>
              <a:t>API (FastAPI):</a:t>
            </a:r>
          </a:p>
          <a:p>
            <a:pPr>
              <a:spcBef>
                <a:spcPts val="600"/>
              </a:spcBef>
              <a:defRPr sz="1700" b="0">
                <a:solidFill>
                  <a:srgbClr val="2C3E50"/>
                </a:solidFill>
              </a:defRPr>
            </a:pPr>
            <a:r>
              <a:t>•  POST /predict — predykcja</a:t>
            </a:r>
          </a:p>
          <a:p>
            <a:pPr>
              <a:spcBef>
                <a:spcPts val="600"/>
              </a:spcBef>
              <a:defRPr sz="1700" b="0">
                <a:solidFill>
                  <a:srgbClr val="2C3E50"/>
                </a:solidFill>
              </a:defRPr>
            </a:pPr>
            <a:r>
              <a:t>•  GET /health — status</a:t>
            </a:r>
          </a:p>
          <a:p>
            <a:pPr>
              <a:spcBef>
                <a:spcPts val="600"/>
              </a:spcBef>
              <a:defRPr sz="1700" b="0">
                <a:solidFill>
                  <a:srgbClr val="2C3E50"/>
                </a:solidFill>
              </a:defRPr>
            </a:pPr>
            <a:r>
              <a:t>•  Swagger UI pod /docs</a:t>
            </a:r>
          </a:p>
          <a:p>
            <a:pPr>
              <a:spcBef>
                <a:spcPts val="600"/>
              </a:spcBef>
              <a:defRPr sz="1000" b="0"/>
            </a:pPr>
          </a:p>
          <a:p>
            <a:pPr>
              <a:spcBef>
                <a:spcPts val="600"/>
              </a:spcBef>
              <a:defRPr sz="2200" b="1">
                <a:solidFill>
                  <a:srgbClr val="2C3E50"/>
                </a:solidFill>
              </a:defRPr>
            </a:pPr>
            <a:r>
              <a:t>Docker:</a:t>
            </a:r>
          </a:p>
          <a:p>
            <a:pPr>
              <a:spcBef>
                <a:spcPts val="600"/>
              </a:spcBef>
              <a:defRPr sz="1700" b="0">
                <a:solidFill>
                  <a:srgbClr val="2C3E50"/>
                </a:solidFill>
              </a:defRPr>
            </a:pPr>
            <a:r>
              <a:t>•  Dockerfile + docker-compose</a:t>
            </a:r>
          </a:p>
          <a:p>
            <a:pPr>
              <a:spcBef>
                <a:spcPts val="600"/>
              </a:spcBef>
              <a:defRPr sz="1700" b="0">
                <a:solidFill>
                  <a:srgbClr val="2C3E50"/>
                </a:solidFill>
              </a:defRPr>
            </a:pPr>
            <a:r>
              <a:t>•  docker-compose up --build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C3E50"/>
                </a:solidFill>
              </a:defRPr>
            </a:pPr>
            <a:r>
              <a:t>CI/CD (GitHub Actions):</a:t>
            </a:r>
          </a:p>
          <a:p>
            <a:pPr>
              <a:spcBef>
                <a:spcPts val="600"/>
              </a:spcBef>
              <a:defRPr sz="1700" b="0">
                <a:solidFill>
                  <a:srgbClr val="2C3E50"/>
                </a:solidFill>
              </a:defRPr>
            </a:pPr>
            <a:r>
              <a:t>•  CI — ruff (lint) + pytest</a:t>
            </a:r>
          </a:p>
          <a:p>
            <a:pPr>
              <a:spcBef>
                <a:spcPts val="600"/>
              </a:spcBef>
              <a:defRPr sz="1700" b="0">
                <a:solidFill>
                  <a:srgbClr val="2C3E50"/>
                </a:solidFill>
              </a:defRPr>
            </a:pPr>
            <a:r>
              <a:t>•  CD — build Docker → push do GHCR</a:t>
            </a:r>
          </a:p>
          <a:p>
            <a:pPr>
              <a:spcBef>
                <a:spcPts val="600"/>
              </a:spcBef>
              <a:defRPr sz="1700" b="0">
                <a:solidFill>
                  <a:srgbClr val="2C3E50"/>
                </a:solidFill>
              </a:defRPr>
            </a:pPr>
            <a:r>
              <a:t>•  CT — automatyczne retrenowanie</a:t>
            </a:r>
          </a:p>
          <a:p>
            <a:pPr>
              <a:spcBef>
                <a:spcPts val="600"/>
              </a:spcBef>
              <a:defRPr sz="1000" b="0"/>
            </a:pPr>
          </a:p>
          <a:p>
            <a:pPr>
              <a:spcBef>
                <a:spcPts val="600"/>
              </a:spcBef>
              <a:defRPr sz="2200" b="1">
                <a:solidFill>
                  <a:srgbClr val="2C3E50"/>
                </a:solidFill>
              </a:defRPr>
            </a:pPr>
            <a:r>
              <a:t>Monitoring:</a:t>
            </a:r>
          </a:p>
          <a:p>
            <a:pPr>
              <a:spcBef>
                <a:spcPts val="600"/>
              </a:spcBef>
              <a:defRPr sz="1700" b="0">
                <a:solidFill>
                  <a:srgbClr val="2C3E50"/>
                </a:solidFill>
              </a:defRPr>
            </a:pPr>
            <a:r>
              <a:t>•  Logowanie każdej predykcji</a:t>
            </a:r>
          </a:p>
          <a:p>
            <a:pPr>
              <a:spcBef>
                <a:spcPts val="600"/>
              </a:spcBef>
              <a:defRPr sz="1700" b="0">
                <a:solidFill>
                  <a:srgbClr val="2C3E50"/>
                </a:solidFill>
              </a:defRPr>
            </a:pPr>
            <a:r>
              <a:t>•  Evidently — wykrywanie driftu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C3E50"/>
                </a:solidFill>
              </a:defRPr>
            </a:pPr>
            <a:r>
              <a:t>Użyte technologie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C3E50"/>
                </a:solidFill>
              </a:defRPr>
            </a:pPr>
          </a:p>
          <a:p>
            <a:pPr>
              <a:spcBef>
                <a:spcPts val="600"/>
              </a:spcBef>
              <a:defRPr sz="1800" b="0">
                <a:solidFill>
                  <a:srgbClr val="2C3E50"/>
                </a:solidFill>
              </a:defRPr>
            </a:pPr>
            <a:r>
              <a:t>•  Kedro — pipeline ML</a:t>
            </a:r>
          </a:p>
          <a:p>
            <a:pPr>
              <a:spcBef>
                <a:spcPts val="600"/>
              </a:spcBef>
              <a:defRPr sz="1800" b="0">
                <a:solidFill>
                  <a:srgbClr val="2C3E50"/>
                </a:solidFill>
              </a:defRPr>
            </a:pPr>
            <a:r>
              <a:t>•  scikit-learn — modele bazowe</a:t>
            </a:r>
          </a:p>
          <a:p>
            <a:pPr>
              <a:spcBef>
                <a:spcPts val="600"/>
              </a:spcBef>
              <a:defRPr sz="1800" b="0">
                <a:solidFill>
                  <a:srgbClr val="2C3E50"/>
                </a:solidFill>
              </a:defRPr>
            </a:pPr>
            <a:r>
              <a:t>•  XGBoost, LightGBM — gradient boosting</a:t>
            </a:r>
          </a:p>
          <a:p>
            <a:pPr>
              <a:spcBef>
                <a:spcPts val="600"/>
              </a:spcBef>
              <a:defRPr sz="1800" b="0">
                <a:solidFill>
                  <a:srgbClr val="2C3E50"/>
                </a:solidFill>
              </a:defRPr>
            </a:pPr>
            <a:r>
              <a:t>•  Optuna — strojenie hiperparametrów</a:t>
            </a:r>
          </a:p>
          <a:p>
            <a:pPr>
              <a:spcBef>
                <a:spcPts val="600"/>
              </a:spcBef>
              <a:defRPr sz="1800" b="0">
                <a:solidFill>
                  <a:srgbClr val="2C3E50"/>
                </a:solidFill>
              </a:defRPr>
            </a:pPr>
            <a:r>
              <a:t>•  MLflow — śledzenie eksperymentów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C3E50"/>
                </a:solidFill>
              </a:defRPr>
            </a:pPr>
          </a:p>
          <a:p>
            <a:pPr>
              <a:spcBef>
                <a:spcPts val="600"/>
              </a:spcBef>
              <a:defRPr sz="1800" b="0">
                <a:solidFill>
                  <a:srgbClr val="2C3E50"/>
                </a:solidFill>
              </a:defRPr>
            </a:pPr>
            <a:r>
              <a:t>•  FastAPI — API do predykcji</a:t>
            </a:r>
          </a:p>
          <a:p>
            <a:pPr>
              <a:spcBef>
                <a:spcPts val="600"/>
              </a:spcBef>
              <a:defRPr sz="1800" b="0">
                <a:solidFill>
                  <a:srgbClr val="2C3E50"/>
                </a:solidFill>
              </a:defRPr>
            </a:pPr>
            <a:r>
              <a:t>•  Docker — konteneryzacja</a:t>
            </a:r>
          </a:p>
          <a:p>
            <a:pPr>
              <a:spcBef>
                <a:spcPts val="600"/>
              </a:spcBef>
              <a:defRPr sz="1800" b="0">
                <a:solidFill>
                  <a:srgbClr val="2C3E50"/>
                </a:solidFill>
              </a:defRPr>
            </a:pPr>
            <a:r>
              <a:t>•  GitHub Actions — CI/CD</a:t>
            </a:r>
          </a:p>
          <a:p>
            <a:pPr>
              <a:spcBef>
                <a:spcPts val="600"/>
              </a:spcBef>
              <a:defRPr sz="1800" b="0">
                <a:solidFill>
                  <a:srgbClr val="2C3E50"/>
                </a:solidFill>
              </a:defRPr>
            </a:pPr>
            <a:r>
              <a:t>•  Evidently — monitoring driftu</a:t>
            </a:r>
          </a:p>
          <a:p>
            <a:pPr>
              <a:spcBef>
                <a:spcPts val="600"/>
              </a:spcBef>
              <a:defRPr sz="1800" b="0">
                <a:solidFill>
                  <a:srgbClr val="2C3E50"/>
                </a:solidFill>
              </a:defRPr>
            </a:pPr>
            <a:r>
              <a:t>•  Jupyter — EDA i eksperymenty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7F8C8D"/>
                </a:solidFill>
              </a:defRPr>
            </a:pPr>
            <a:r>
              <a:t>Repo: github.com/s19455/ASI-Analiza-wypadkow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Podsumowanie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031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3498DB"/>
                </a:solidFill>
              </a:defRPr>
            </a:pPr>
            <a:r>
              <a:t>172K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8346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7F8C8D"/>
                </a:solidFill>
              </a:defRPr>
            </a:pPr>
            <a:r>
              <a:t>wypadków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21031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3498DB"/>
                </a:solidFill>
              </a:defRPr>
            </a:pPr>
            <a: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28346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7F8C8D"/>
                </a:solidFill>
              </a:defRPr>
            </a:pPr>
            <a:r>
              <a:t>modele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1031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3498DB"/>
                </a:solidFill>
              </a:defRPr>
            </a:pPr>
            <a:r>
              <a:t>0.78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8346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7F8C8D"/>
                </a:solidFill>
              </a:defRPr>
            </a:pPr>
            <a:r>
              <a:t>F1 ważone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21031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3498DB"/>
                </a:solidFill>
              </a:defRPr>
            </a:pPr>
            <a:r>
              <a:t>+39%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28346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7F8C8D"/>
                </a:solidFill>
              </a:defRPr>
            </a:pPr>
            <a:r>
              <a:t>poprawa F1 makro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148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</a:defRPr>
            </a:pPr>
            <a:r>
              <a:t>Od surowych danych, przez pipeline Kedro, po API w Dockerze z CI/CD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3035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3498DB"/>
                </a:solidFill>
              </a:defRPr>
            </a:pPr>
            <a:r>
              <a:t>Dziękujemy — pytania?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